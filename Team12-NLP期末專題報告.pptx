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Iansui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BEF66F-EDAB-4AF3-A271-6549E04C52AE}">
  <a:tblStyle styleId="{13BEF66F-EDAB-4AF3-A271-6549E04C52A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Iansui-regular.fnt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spreadsheets/d/1u9SMepTKmJVWTSqV4Q3ipoTZ6gTOgK3Q2YIAxgJGALU/edit?gid=0#gid=0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spreadsheets/d/1u9SMepTKmJVWTSqV4Q3ipoTZ6gTOgK3Q2YIAxgJGALU/edit?gid=0#gid=0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spreadsheets/d/1u9SMepTKmJVWTSqV4Q3ipoTZ6gTOgK3Q2YIAxgJGALU/edit?gid=0#gid=0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spreadsheets/d/1u9SMepTKmJVWTSqV4Q3ipoTZ6gTOgK3Q2YIAxgJGALU/edit?gid=0#gid=0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d08be207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9d08be207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9d08be207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d08be2070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9d08be2070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4" name="Google Shape;64;g39d08be2070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d08be2070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9d08be2070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2" name="Google Shape;72;g39d08be2070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d3369c16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9d3369c16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1" name="Google Shape;81;g39d3369c16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133cb47c2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a133cb47c2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chemeClr val="dk1"/>
                </a:solidFill>
              </a:rPr>
              <a:t>主要方法: 先比較 BERT 與 LLM 在各種任務(實體抽取、分類、強度預測)的表現，最後根據結果設計整合流程，發現結合兩類模型的表現會最好。</a:t>
            </a:r>
            <a:br>
              <a:rPr lang="zh-TW"/>
            </a:br>
            <a:r>
              <a:rPr lang="zh-TW"/>
              <a:t>BERT 流程：依序做「aspect-opinion 抽取 → 配對與分類 → 強度預測」。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BERT ：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/>
              <a:t>領域預訓練（DAPT）</a:t>
            </a:r>
            <a:br>
              <a:rPr lang="zh-TW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/>
              <a:t>將抽取任務轉成 BIO序列標記任務，用BERT去預測每個token的類別(BA, IA, BO, IO, O)。  </a:t>
            </a:r>
            <a:r>
              <a:rPr lang="zh-TW">
                <a:solidFill>
                  <a:schemeClr val="dk1"/>
                </a:solidFill>
              </a:rPr>
              <a:t>同一型別實體的第一個詞標 </a:t>
            </a:r>
            <a:r>
              <a:rPr b="1" lang="zh-TW">
                <a:solidFill>
                  <a:schemeClr val="dk1"/>
                </a:solidFill>
              </a:rPr>
              <a:t>B-類別</a:t>
            </a:r>
            <a:r>
              <a:rPr lang="zh-TW">
                <a:solidFill>
                  <a:schemeClr val="dk1"/>
                </a:solidFill>
              </a:rPr>
              <a:t>。其後連續詞標 </a:t>
            </a:r>
            <a:r>
              <a:rPr b="1" lang="zh-TW">
                <a:solidFill>
                  <a:schemeClr val="dk1"/>
                </a:solidFill>
              </a:rPr>
              <a:t>I-類別</a:t>
            </a:r>
            <a:r>
              <a:rPr lang="zh-TW">
                <a:solidFill>
                  <a:schemeClr val="dk1"/>
                </a:solidFill>
              </a:rPr>
              <a:t>。</a:t>
            </a:r>
            <a:r>
              <a:rPr b="1" lang="zh-TW">
                <a:solidFill>
                  <a:schemeClr val="dk1"/>
                </a:solidFill>
              </a:rPr>
              <a:t>O為</a:t>
            </a:r>
            <a:r>
              <a:rPr lang="zh-TW">
                <a:solidFill>
                  <a:schemeClr val="dk1"/>
                </a:solidFill>
              </a:rPr>
              <a:t>不屬於任何實體的詞標 。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/>
              <a:t>建造負樣本（negative pairs)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建造方式: 用 k-fold 訓練抽取模型，收集其錯誤匹配的 aspect/opinion，將這些錯誤搭配組成「negative pairs」並標記為 Invalid。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訓練方式：把「負樣本的pairs」與「正確的 aspect/opinion pairs」一起送進 pairing模型做訓練，讓模型學會什麼是錯的aspect/opinion配對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/>
              <a:t>intensity prediction: 他們將任務用分類和回歸的方式去做，後續去測試將情感強度預測視為哪種任務去做，效果會比較好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9" name="Google Shape;89;g3a133cb47c2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133cb47c2_0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a133cb47c2_0_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zh-TW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 標註：先對資料進行 BIO 標記，將 span 的形式變成 BIO 標籤的形式。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zh-TW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負樣本與配對資料：用 K-fold cross-validation 的方式先訓練 BIO 模型，然後用訓練好的模型在驗證的 fold 上進行推論，抓取到多個aspect和opinion。然後進行對多個aspect和opinion進行組合，只要不是正確配對，就標記成 INVALID。每句可保留最多 10 筆負樣本，輸出成 JSONL 給 relation classifier 訓練使用。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zh-TW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模型：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zh-TW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Aspect BIO tagger  (輸入:Text，輸出: 對每個token 進行分類 屬於BIO標籤的哪一個，最後整理出抓取到的Aspect)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zh-TW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Opinion BIO tagger  (輸入:Text，輸出: 對每個token 進行分類 屬於BIO標籤的哪一個，最後整理出抓取到的Opinion)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zh-TW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 Pairing classifier (輸入: Aspect, Opinion 和 Text，輸出: Category或是Invalid。會額外使用負樣本去訓練)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zh-TW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Category classifier (輸入: Aspect, Text，輸出: Category)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推論細節：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13716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若只抓取到 aspect/opinion 其中一個，另一種缺失的以整句補上。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13716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 Pairing classifier 會辨識合法類別和 INVALID，再過濾掉 INVALID 的結果。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13716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當 Relation Pairing classifier 都輸出 INVALID，避免配對為全空，會使用 Category classifier 分類，再依距離就近配對。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g3a133cb47c2_0_1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133cb47c2_0_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a133cb47c2_0_1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 預測 (LLM):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使用 VAPredictorConfig 給定 LLM 路徑、裝置、生成長度 (max_new_tokens≤7)、temperature、top_p 以及 4-bit 量化的設定。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推論時呼叫 build_instruct_prompt 將 Text / Aspect / Opinion 填入統一的指令模板，再把 prompt tokenized 後送入 LLM generate，擷取新生成的字串。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parse_output 以正則尋找 V#A，若解析失敗則回傳 5.0#5.0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a133cb47c2_0_1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d08be2070_0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9d08be2070_0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1" name="Google Shape;111;g39d08be2070_0_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d08be2070_0_1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9d08be2070_0_1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u="sng">
                <a:solidFill>
                  <a:schemeClr val="hlink"/>
                </a:solidFill>
                <a:hlinkClick r:id="rId2"/>
              </a:rPr>
              <a:t>https://docs.google.com/spreadsheets/d/1u9SMepTKmJVWTSqV4Q3ipoTZ6gTOgK3Q2YIAxgJGALU/edit?gid=0#gid=0</a:t>
            </a:r>
            <a:endParaRPr/>
          </a:p>
        </p:txBody>
      </p:sp>
      <p:sp>
        <p:nvSpPr>
          <p:cNvPr id="120" name="Google Shape;120;g39d08be2070_0_1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d3369c16c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9d3369c16c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u="sng">
                <a:solidFill>
                  <a:schemeClr val="hlink"/>
                </a:solidFill>
                <a:hlinkClick r:id="rId2"/>
              </a:rPr>
              <a:t>https://docs.google.com/spreadsheets/d/1u9SMepTKmJVWTSqV4Q3ipoTZ6gTOgK3Q2YIAxgJGALU/edit?gid=0#gid=0</a:t>
            </a:r>
            <a:endParaRPr/>
          </a:p>
        </p:txBody>
      </p:sp>
      <p:sp>
        <p:nvSpPr>
          <p:cNvPr id="131" name="Google Shape;131;g39d3369c16c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d3369c16c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9d3369c16c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u="sng">
                <a:solidFill>
                  <a:schemeClr val="hlink"/>
                </a:solidFill>
                <a:hlinkClick r:id="rId2"/>
              </a:rPr>
              <a:t>https://docs.google.com/spreadsheets/d/1u9SMepTKmJVWTSqV4Q3ipoTZ6gTOgK3Q2YIAxgJGALU/edit?gid=0#gid=0</a:t>
            </a:r>
            <a:endParaRPr/>
          </a:p>
        </p:txBody>
      </p:sp>
      <p:sp>
        <p:nvSpPr>
          <p:cNvPr id="146" name="Google Shape;146;g39d3369c16c_0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d3369c16c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9d3369c16c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u="sng">
                <a:solidFill>
                  <a:schemeClr val="hlink"/>
                </a:solidFill>
                <a:hlinkClick r:id="rId2"/>
              </a:rPr>
              <a:t>https://docs.google.com/spreadsheets/d/1u9SMepTKmJVWTSqV4Q3ipoTZ6gTOgK3Q2YIAxgJGALU/edit?gid=0#gid=0</a:t>
            </a:r>
            <a:endParaRPr/>
          </a:p>
        </p:txBody>
      </p:sp>
      <p:sp>
        <p:nvSpPr>
          <p:cNvPr id="157" name="Google Shape;157;g39d3369c16c_0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d08be2070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9d08be2070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2" name="Google Shape;172;g39d08be2070_0_1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d3369c16c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9d3369c16c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1" name="Google Shape;181;g39d3369c16c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d08be2070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9d08be2070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g39d08be2070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clanthology.org/2024.sighan-1.20/" TargetMode="External"/><Relationship Id="rId4" Type="http://schemas.openxmlformats.org/officeDocument/2006/relationships/hyperlink" Target="https://aclanthology.org/2024.sighan-1.20/" TargetMode="External"/><Relationship Id="rId9" Type="http://schemas.openxmlformats.org/officeDocument/2006/relationships/hyperlink" Target="https://aclanthology.org/2024.sighan-1.20/" TargetMode="External"/><Relationship Id="rId5" Type="http://schemas.openxmlformats.org/officeDocument/2006/relationships/hyperlink" Target="https://aclanthology.org/2024.sighan-1.20/" TargetMode="External"/><Relationship Id="rId6" Type="http://schemas.openxmlformats.org/officeDocument/2006/relationships/hyperlink" Target="https://aclanthology.org/2024.sighan-1.20/" TargetMode="External"/><Relationship Id="rId7" Type="http://schemas.openxmlformats.org/officeDocument/2006/relationships/hyperlink" Target="https://aclanthology.org/2024.sighan-1.20/" TargetMode="External"/><Relationship Id="rId8" Type="http://schemas.openxmlformats.org/officeDocument/2006/relationships/hyperlink" Target="https://aclanthology.org/2024.sighan-1.20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huggingface.co/google-bert/bert-base-chinese" TargetMode="External"/><Relationship Id="rId4" Type="http://schemas.openxmlformats.org/officeDocument/2006/relationships/hyperlink" Target="https://huggingface.co/hfl/chinese-roberta-wwm-ext" TargetMode="External"/><Relationship Id="rId5" Type="http://schemas.openxmlformats.org/officeDocument/2006/relationships/hyperlink" Target="https://huggingface.co/hfl/chinese-roberta-wwm-ext-large" TargetMode="External"/><Relationship Id="rId6" Type="http://schemas.openxmlformats.org/officeDocument/2006/relationships/hyperlink" Target="https://huggingface.co/nghuyong/ernie-3.0-base-zh" TargetMode="External"/><Relationship Id="rId7" Type="http://schemas.openxmlformats.org/officeDocument/2006/relationships/hyperlink" Target="https://huggingface.co/nghuyong/ernie-3.0-xbase-zh" TargetMode="External"/><Relationship Id="rId8" Type="http://schemas.openxmlformats.org/officeDocument/2006/relationships/hyperlink" Target="https://huggingface.co/IDEA-CCNL/Erlangshen-DeBERTa-v2-710M-Chines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huggingface.co/nghuyong/ernie-3.0-xbase-zh" TargetMode="External"/><Relationship Id="rId4" Type="http://schemas.openxmlformats.org/officeDocument/2006/relationships/hyperlink" Target="https://huggingface.co/nghuyong/ernie-3.0-xbase-zh" TargetMode="External"/><Relationship Id="rId5" Type="http://schemas.openxmlformats.org/officeDocument/2006/relationships/hyperlink" Target="https://huggingface.co/nghuyong/ernie-3.0-xbase-zh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huggingface.co/google-bert/bert-base-chinese" TargetMode="External"/><Relationship Id="rId4" Type="http://schemas.openxmlformats.org/officeDocument/2006/relationships/hyperlink" Target="https://huggingface.co/hfl/chinese-roberta-wwm-ext" TargetMode="External"/><Relationship Id="rId5" Type="http://schemas.openxmlformats.org/officeDocument/2006/relationships/hyperlink" Target="https://huggingface.co/hfl/chinese-roberta-wwm-ext-large" TargetMode="External"/><Relationship Id="rId6" Type="http://schemas.openxmlformats.org/officeDocument/2006/relationships/hyperlink" Target="https://huggingface.co/nghuyong/ernie-3.0-base-zh" TargetMode="External"/><Relationship Id="rId7" Type="http://schemas.openxmlformats.org/officeDocument/2006/relationships/hyperlink" Target="https://huggingface.co/nghuyong/ernie-3.0-xbase-zh" TargetMode="External"/><Relationship Id="rId8" Type="http://schemas.openxmlformats.org/officeDocument/2006/relationships/hyperlink" Target="https://huggingface.co/IDEA-CCNL/Erlangshen-DeBERTa-v2-710M-Chinese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huggingface.co/nghuyong/ernie-3.0-xbase-zh" TargetMode="External"/><Relationship Id="rId4" Type="http://schemas.openxmlformats.org/officeDocument/2006/relationships/hyperlink" Target="https://huggingface.co/nghuyong/ernie-3.0-xbase-zh" TargetMode="External"/><Relationship Id="rId5" Type="http://schemas.openxmlformats.org/officeDocument/2006/relationships/hyperlink" Target="https://huggingface.co/nghuyong/ernie-3.0-xbase-zh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huggingface.co/nghuyong/ernie-3.0-xbase-zh" TargetMode="External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1846200" y="3616313"/>
            <a:ext cx="5451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zh-TW" sz="16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Team 12 Final Project Presentation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zh-TW" sz="16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Presenter</a:t>
            </a:r>
            <a:r>
              <a:rPr i="0" lang="zh-TW" sz="16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zh-TW" sz="1600">
                <a:solidFill>
                  <a:schemeClr val="dk1"/>
                </a:solidFill>
                <a:highlight>
                  <a:srgbClr val="FFFFFF"/>
                </a:highlight>
                <a:latin typeface="Iansui"/>
                <a:ea typeface="Iansui"/>
                <a:cs typeface="Iansui"/>
                <a:sym typeface="Iansui"/>
              </a:rPr>
              <a:t>林鼎翔、褚柏均</a:t>
            </a:r>
            <a:endParaRPr i="0" sz="1600" u="none" cap="none" strike="noStrike">
              <a:solidFill>
                <a:srgbClr val="000000"/>
              </a:solidFill>
              <a:latin typeface="Iansui"/>
              <a:ea typeface="Iansui"/>
              <a:cs typeface="Iansui"/>
              <a:sym typeface="Iansui"/>
            </a:endParaRPr>
          </a:p>
        </p:txBody>
      </p:sp>
      <p:sp>
        <p:nvSpPr>
          <p:cNvPr id="56" name="Google Shape;56;p13"/>
          <p:cNvSpPr/>
          <p:nvPr/>
        </p:nvSpPr>
        <p:spPr>
          <a:xfrm flipH="1" rot="10800000">
            <a:off x="558288" y="3397563"/>
            <a:ext cx="8027400" cy="19500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58" name="Google Shape;58;p13"/>
          <p:cNvGrpSpPr/>
          <p:nvPr/>
        </p:nvGrpSpPr>
        <p:grpSpPr>
          <a:xfrm>
            <a:off x="1279154" y="665291"/>
            <a:ext cx="6585703" cy="2346602"/>
            <a:chOff x="1094075" y="903025"/>
            <a:chExt cx="7024001" cy="2502775"/>
          </a:xfrm>
        </p:grpSpPr>
        <p:pic>
          <p:nvPicPr>
            <p:cNvPr id="59" name="Google Shape;59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94075" y="903025"/>
              <a:ext cx="7024001" cy="1314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64400" y="2217500"/>
              <a:ext cx="6815199" cy="11883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/>
        </p:nvSpPr>
        <p:spPr>
          <a:xfrm>
            <a:off x="715925" y="511400"/>
            <a:ext cx="4884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Presentation </a:t>
            </a:r>
            <a:r>
              <a:rPr b="1" lang="zh-TW" sz="2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1716450" y="1232800"/>
            <a:ext cx="69708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zh-TW" sz="24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Review of Prior Progress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eriod"/>
            </a:pPr>
            <a:r>
              <a:rPr lang="zh-TW" sz="24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Overview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eriod"/>
            </a:pPr>
            <a:r>
              <a:rPr lang="zh-TW" sz="24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Method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eriod"/>
            </a:pPr>
            <a:r>
              <a:rPr lang="zh-TW" sz="24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Implementation Details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zh-TW" sz="24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Experimental Results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zh-TW" sz="24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/>
        </p:nvSpPr>
        <p:spPr>
          <a:xfrm>
            <a:off x="2581950" y="2083500"/>
            <a:ext cx="398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zh-TW" sz="24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Review of Prior Progress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76" name="Google Shape;76;p15"/>
          <p:cNvCxnSpPr>
            <a:endCxn id="74" idx="1"/>
          </p:cNvCxnSpPr>
          <p:nvPr/>
        </p:nvCxnSpPr>
        <p:spPr>
          <a:xfrm>
            <a:off x="-534150" y="2360550"/>
            <a:ext cx="3116100" cy="0"/>
          </a:xfrm>
          <a:prstGeom prst="straightConnector1">
            <a:avLst/>
          </a:prstGeom>
          <a:noFill/>
          <a:ln cap="flat" cmpd="sng" w="9525">
            <a:solidFill>
              <a:srgbClr val="0033A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7" name="Google Shape;77;p15"/>
          <p:cNvCxnSpPr>
            <a:stCxn id="74" idx="3"/>
          </p:cNvCxnSpPr>
          <p:nvPr/>
        </p:nvCxnSpPr>
        <p:spPr>
          <a:xfrm>
            <a:off x="6562050" y="2360550"/>
            <a:ext cx="3081300" cy="0"/>
          </a:xfrm>
          <a:prstGeom prst="straightConnector1">
            <a:avLst/>
          </a:prstGeom>
          <a:noFill/>
          <a:ln cap="flat" cmpd="sng" w="9525">
            <a:solidFill>
              <a:srgbClr val="0033A1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455538" y="509238"/>
            <a:ext cx="823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lphaLcPeriod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Overview</a:t>
            </a:r>
            <a:endParaRPr baseline="30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" name="Google Shape;85;p16" title="Blank diagram - Page 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675" y="986213"/>
            <a:ext cx="7478625" cy="364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328950" y="434750"/>
            <a:ext cx="84861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b.       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Method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HITSZ-HLT at </a:t>
            </a:r>
            <a:r>
              <a:rPr b="1" lang="zh-TW" sz="12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SIGHAN-2024 dimABSA Task</a:t>
            </a:r>
            <a:r>
              <a:rPr lang="zh-TW" sz="12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: Integrating BERT and LLM for Chinese Dimensional Aspect-Based Sentiment Analysis</a:t>
            </a:r>
            <a:r>
              <a:rPr baseline="30000" lang="zh-TW" sz="12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zh-TW" sz="12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(</a:t>
            </a:r>
            <a:r>
              <a:rPr lang="zh-TW" sz="12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Hongling Xu, Delong Zhang, Yice Zhang, Ruifeng Xu</a:t>
            </a:r>
            <a:r>
              <a:rPr lang="zh-TW" sz="12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, 2024)</a:t>
            </a:r>
            <a:endParaRPr baseline="3000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809850" y="1509750"/>
            <a:ext cx="80052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針對中文餐廳評論做四元組的情感分析</a:t>
            </a: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，提出 Pipeline 的 Ensemble 方法: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zh-TW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先用 BERT 抽取三元組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zh-TW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再用 LLM 做整數級別的強度預測 (我們改用小數點)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C9DAF8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C9DAF8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Non-adopted Components：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沒有對 BERT 做中文餐廳的領域預訓練，直接用 huggingface 上預訓練好的模型做後續微調。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沒有使用 Code-Style Instruction，測試發現有些模型訓練後，沒辦法依照規定格式輸出，有時候會 parse 不到 LLM 生成的 VA預測值。</a:t>
            </a:r>
            <a:endParaRPr sz="1100">
              <a:solidFill>
                <a:schemeClr val="dk1"/>
              </a:solidFill>
              <a:highlight>
                <a:srgbClr val="C9DAF8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00" name="Google Shape;100;p18"/>
          <p:cNvSpPr txBox="1"/>
          <p:nvPr/>
        </p:nvSpPr>
        <p:spPr>
          <a:xfrm>
            <a:off x="359800" y="412500"/>
            <a:ext cx="8232900" cy="4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       Implementation </a:t>
            </a: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Times New Roman"/>
              <a:buAutoNum type="arabicPeriod"/>
            </a:pPr>
            <a:r>
              <a:rPr lang="zh-TW" sz="1200">
                <a:latin typeface="Times New Roman"/>
                <a:ea typeface="Times New Roman"/>
                <a:cs typeface="Times New Roman"/>
                <a:sym typeface="Times New Roman"/>
              </a:rPr>
              <a:t>Aspect-Opinion Extraction</a:t>
            </a:r>
            <a:r>
              <a:rPr lang="zh-TW" sz="1200">
                <a:latin typeface="Times New Roman"/>
                <a:ea typeface="Times New Roman"/>
                <a:cs typeface="Times New Roman"/>
                <a:sym typeface="Times New Roman"/>
              </a:rPr>
              <a:t>、</a:t>
            </a:r>
            <a:r>
              <a:rPr lang="zh-TW" sz="1200">
                <a:latin typeface="Times New Roman"/>
                <a:ea typeface="Times New Roman"/>
                <a:cs typeface="Times New Roman"/>
                <a:sym typeface="Times New Roman"/>
              </a:rPr>
              <a:t>Pairing and Classification</a:t>
            </a:r>
            <a:r>
              <a:rPr lang="zh-TW" sz="12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資料前處理：先對資料進行 BIO 標記，</a:t>
            </a:r>
            <a:r>
              <a:rPr lang="zh-TW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將 span 形式變成 BIO 標籤形式</a:t>
            </a: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。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負樣本與配對資料：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13716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用 k-fold cross-validation 的方式先訓練 BIO 模型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13716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在驗證的 fold 上進行推論，抓取到多個 aspect 和 opinion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13716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對多個 aspect 和 opinion 進行組合，只要不是正確配對，就標記成 INVALID。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13716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zh-TW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建構負樣本，輸出成 JSONL 給 Relation </a:t>
            </a:r>
            <a:r>
              <a:rPr lang="zh-TW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Pairing</a:t>
            </a:r>
            <a:r>
              <a:rPr lang="zh-TW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Classifier 訓練使用</a:t>
            </a: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。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模型：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13716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Aspect BIO tagger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13716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Opinion BIO tagger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13716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 </a:t>
            </a: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Pairing </a:t>
            </a: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classifier (會額外使用負樣本去訓練)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13716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Category classifier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推論細節：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13716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 </a:t>
            </a: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Pairing </a:t>
            </a: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classifier 會辨識合法類別和 INVALID，再過濾掉 INVALID 的結果。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13716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當 </a:t>
            </a: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 Pairing classifier 都輸出 INVALID，</a:t>
            </a:r>
            <a:r>
              <a:rPr lang="zh-TW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避免配對全部為空，會使用</a:t>
            </a:r>
            <a:r>
              <a:rPr lang="zh-TW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Category classifier 分類，再依距離</a:t>
            </a:r>
            <a:r>
              <a:rPr lang="zh-TW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就近</a:t>
            </a:r>
            <a:r>
              <a:rPr lang="zh-TW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配對，當作備案</a:t>
            </a: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。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271950" y="412500"/>
            <a:ext cx="8600100" cy="3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       Implementation Details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2.	VA Intensity Prediction: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 model：</a:t>
            </a:r>
            <a:r>
              <a:rPr lang="zh-TW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Llama-3.1-8B-Instruct、Phi-4、Qwen3-14B、Deepseek-7b-instruct-v1.5</a:t>
            </a:r>
            <a:endParaRPr sz="12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使用 QLoRA 方式去訓練，半精度，訓練 5 epoch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SYETEM_PROMPT: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 你是一個 Valence-Arousal 強度預測專家，收到 Text、Aspect 與 Opinion 後，只能輸出一行 `V#A`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規則：1) Valence 在前、Arousal 在後，兩者之間用 `#`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2) 數值範圍 1.0 至 9.0，請輸出</a:t>
            </a:r>
            <a:r>
              <a:rPr lang="zh-TW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小數點</a:t>
            </a:r>
            <a:endParaRPr sz="12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3) 不得輸出多餘文字、標點或解釋。"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推論時會輸入 Text / Aspect / Opinion ，再把 prompt tokenized 後送入 LLM 生成，再從生成的字串去解析 V#A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/>
        </p:nvSpPr>
        <p:spPr>
          <a:xfrm>
            <a:off x="2889300" y="2083500"/>
            <a:ext cx="336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2.	</a:t>
            </a:r>
            <a:r>
              <a:rPr lang="zh-TW" sz="24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Experimental Results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115" name="Google Shape;115;p20"/>
          <p:cNvCxnSpPr>
            <a:endCxn id="113" idx="1"/>
          </p:cNvCxnSpPr>
          <p:nvPr/>
        </p:nvCxnSpPr>
        <p:spPr>
          <a:xfrm>
            <a:off x="-226800" y="2360550"/>
            <a:ext cx="3116100" cy="0"/>
          </a:xfrm>
          <a:prstGeom prst="straightConnector1">
            <a:avLst/>
          </a:prstGeom>
          <a:noFill/>
          <a:ln cap="flat" cmpd="sng" w="9525">
            <a:solidFill>
              <a:srgbClr val="0033A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16" name="Google Shape;116;p20"/>
          <p:cNvCxnSpPr>
            <a:stCxn id="113" idx="3"/>
          </p:cNvCxnSpPr>
          <p:nvPr/>
        </p:nvCxnSpPr>
        <p:spPr>
          <a:xfrm>
            <a:off x="6254700" y="2360550"/>
            <a:ext cx="3081300" cy="0"/>
          </a:xfrm>
          <a:prstGeom prst="straightConnector1">
            <a:avLst/>
          </a:prstGeom>
          <a:noFill/>
          <a:ln cap="flat" cmpd="sng" w="9525">
            <a:solidFill>
              <a:srgbClr val="0033A1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23" name="Google Shape;123;p21"/>
          <p:cNvSpPr txBox="1"/>
          <p:nvPr/>
        </p:nvSpPr>
        <p:spPr>
          <a:xfrm>
            <a:off x="161113" y="6163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Domain: 中文 Laptop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245987" y="1758300"/>
            <a:ext cx="302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 epoch)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3268188" y="1758300"/>
            <a:ext cx="167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(QLoRa, 5 epoch)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6" name="Google Shape;126;p21"/>
          <p:cNvGraphicFramePr/>
          <p:nvPr/>
        </p:nvGraphicFramePr>
        <p:xfrm>
          <a:off x="246000" y="2047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{13BEF66F-EDAB-4AF3-A271-6549E04C52AE}</a:tableStyleId>
              </a:tblPr>
              <a:tblGrid>
                <a:gridCol w="3022100"/>
                <a:gridCol w="1677850"/>
                <a:gridCol w="1422750"/>
                <a:gridCol w="1393300"/>
                <a:gridCol w="1040075"/>
              </a:tblGrid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Transformer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LLM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cPrecision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cRecall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cF1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bert-base-chinese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Llama-3.1-8B-Instruct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0.2656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0.2618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0.2637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chinese-roberta-wwm-ext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Llama-3.1-8B-Instruct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0.2881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0.2913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0.2897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chinese-roberta-wwm-ext-large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Llama-3.1-8B-Instruct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0.2962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0.3166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0.3061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ernie-3.0-base-zh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Llama-3.1-8B-Instruct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0.2621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0.283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0.2721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ernie-3.0-xbase-zh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Llama-3.1-8B-Instruct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0.3095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0.3314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0.3201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Erlangshen-DeBERTa-v2-320M-Chinese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Llama-3.1-8B-Instruct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0.2677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0.2609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0.2643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7" name="Google Shape;127;p21"/>
          <p:cNvSpPr txBox="1"/>
          <p:nvPr/>
        </p:nvSpPr>
        <p:spPr>
          <a:xfrm>
            <a:off x="161113" y="1202775"/>
            <a:ext cx="555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Times New Roman"/>
                <a:ea typeface="Times New Roman"/>
                <a:cs typeface="Times New Roman"/>
                <a:sym typeface="Times New Roman"/>
              </a:rPr>
              <a:t>1. 先固定 LLM 去找最佳的 Transformer 模型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4" name="Google Shape;134;p22"/>
          <p:cNvSpPr txBox="1"/>
          <p:nvPr/>
        </p:nvSpPr>
        <p:spPr>
          <a:xfrm>
            <a:off x="195175" y="4564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Domain: 中文 Laptop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307725" y="1309225"/>
            <a:ext cx="324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 epoch)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3549625" y="1309225"/>
            <a:ext cx="221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(QLoRa, 5 epoch)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232687" y="939913"/>
            <a:ext cx="611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Times New Roman"/>
                <a:ea typeface="Times New Roman"/>
                <a:cs typeface="Times New Roman"/>
                <a:sym typeface="Times New Roman"/>
              </a:rPr>
              <a:t>2. 用較佳的 Transformer 模型，接著加入負樣本去訓練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232700" y="2571750"/>
            <a:ext cx="812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Times New Roman"/>
                <a:ea typeface="Times New Roman"/>
                <a:cs typeface="Times New Roman"/>
                <a:sym typeface="Times New Roman"/>
              </a:rPr>
              <a:t>3. 固定前面的最佳模型和優化，</a:t>
            </a:r>
            <a:r>
              <a:rPr lang="zh-TW" sz="1200">
                <a:latin typeface="Times New Roman"/>
                <a:ea typeface="Times New Roman"/>
                <a:cs typeface="Times New Roman"/>
                <a:sym typeface="Times New Roman"/>
              </a:rPr>
              <a:t>去更換 </a:t>
            </a:r>
            <a:r>
              <a:rPr lang="zh-TW" sz="1200">
                <a:latin typeface="Times New Roman"/>
                <a:ea typeface="Times New Roman"/>
                <a:cs typeface="Times New Roman"/>
                <a:sym typeface="Times New Roman"/>
              </a:rPr>
              <a:t>LLM </a:t>
            </a:r>
            <a:r>
              <a:rPr lang="zh-TW" sz="1200">
                <a:latin typeface="Times New Roman"/>
                <a:ea typeface="Times New Roman"/>
                <a:cs typeface="Times New Roman"/>
                <a:sym typeface="Times New Roman"/>
              </a:rPr>
              <a:t>嘗試優化 VA 預測的表現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307725" y="2931475"/>
            <a:ext cx="284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 epoch)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3154125" y="2931475"/>
            <a:ext cx="193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(QLoRa, 5 epoch)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1" name="Google Shape;141;p22"/>
          <p:cNvGraphicFramePr/>
          <p:nvPr/>
        </p:nvGraphicFramePr>
        <p:xfrm>
          <a:off x="307725" y="1593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{13BEF66F-EDAB-4AF3-A271-6549E04C52AE}</a:tableStyleId>
              </a:tblPr>
              <a:tblGrid>
                <a:gridCol w="3241900"/>
                <a:gridCol w="2213125"/>
                <a:gridCol w="1039200"/>
                <a:gridCol w="1001725"/>
                <a:gridCol w="809850"/>
              </a:tblGrid>
              <a:tr h="265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Transformer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LLM 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cPrecision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cRecall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cF1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ernie-3.0-xbase-zh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Llama-3.1-8B-Instruct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0.3095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0.3314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0.3201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12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ernie-3.0-xbase-zh</a:t>
                      </a: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(w/ negative sample)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Llama-3.1-8B-Instruct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0.4167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0.3713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0.3927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2" name="Google Shape;142;p22"/>
          <p:cNvGraphicFramePr/>
          <p:nvPr/>
        </p:nvGraphicFramePr>
        <p:xfrm>
          <a:off x="307725" y="3200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{13BEF66F-EDAB-4AF3-A271-6549E04C52AE}</a:tableStyleId>
              </a:tblPr>
              <a:tblGrid>
                <a:gridCol w="2846425"/>
                <a:gridCol w="1930525"/>
                <a:gridCol w="1302000"/>
                <a:gridCol w="1275050"/>
                <a:gridCol w="951800"/>
              </a:tblGrid>
              <a:tr h="202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Transformer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LLM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cPrecision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cRecall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cF1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02100">
                <a:tc rowSpan="5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ernie-3.0-xbase-zh</a:t>
                      </a: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(w/ negative sample)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Llama-3.1-8B-Instruct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0.4151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0.3699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0.3912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21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Qwen3-14B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0.4164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0.3711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0.3924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21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phi-4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0.4182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0.3727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0.3941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21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deepseek-7B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0.4165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0.3712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0.3925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21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Ensemble (mean)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0.4193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0.3736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0.3951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9" name="Google Shape;149;p23"/>
          <p:cNvSpPr txBox="1"/>
          <p:nvPr/>
        </p:nvSpPr>
        <p:spPr>
          <a:xfrm>
            <a:off x="161113" y="6163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Domain: 中文 Restaurant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23"/>
          <p:cNvSpPr txBox="1"/>
          <p:nvPr/>
        </p:nvSpPr>
        <p:spPr>
          <a:xfrm>
            <a:off x="245987" y="1758300"/>
            <a:ext cx="302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 epoch)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23"/>
          <p:cNvSpPr txBox="1"/>
          <p:nvPr/>
        </p:nvSpPr>
        <p:spPr>
          <a:xfrm>
            <a:off x="3268188" y="1758300"/>
            <a:ext cx="167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(QLoRa, 5 epoch)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2" name="Google Shape;152;p23"/>
          <p:cNvGraphicFramePr/>
          <p:nvPr/>
        </p:nvGraphicFramePr>
        <p:xfrm>
          <a:off x="246000" y="2047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{13BEF66F-EDAB-4AF3-A271-6549E04C52AE}</a:tableStyleId>
              </a:tblPr>
              <a:tblGrid>
                <a:gridCol w="3022100"/>
                <a:gridCol w="1677850"/>
                <a:gridCol w="1422750"/>
                <a:gridCol w="1393300"/>
                <a:gridCol w="1040075"/>
              </a:tblGrid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Transformer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LLM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cPrecision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cRecall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cF1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bert-base-chinese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Llama-3.1-8B-Instruct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0.4366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0.4263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0.4314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chinese-roberta-wwm-ext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Llama-3.1-8B-Instruct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0.4155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0.4106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0.4131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chinese-roberta-wwm-ext-large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Llama-3.1-8B-Instruct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0.4342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0.4262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0.4301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ernie-3.0-base-zh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Llama-3.1-8B-Instruct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0.4266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0.4266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0.4266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ernie-3.0-xbase-zh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Llama-3.1-8B-Instruct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0.4462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0.4374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0.4418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Erlangshen-DeBERTa-v2-320M-Chinese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Llama-3.1-8B-Instruct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0.4162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0.4037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0.4099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" name="Google Shape;153;p23"/>
          <p:cNvSpPr txBox="1"/>
          <p:nvPr/>
        </p:nvSpPr>
        <p:spPr>
          <a:xfrm>
            <a:off x="161113" y="1202775"/>
            <a:ext cx="555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Times New Roman"/>
                <a:ea typeface="Times New Roman"/>
                <a:cs typeface="Times New Roman"/>
                <a:sym typeface="Times New Roman"/>
              </a:rPr>
              <a:t>1. 先固定 LLM 去找最佳的 Transformer 模型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60" name="Google Shape;160;p24"/>
          <p:cNvSpPr txBox="1"/>
          <p:nvPr/>
        </p:nvSpPr>
        <p:spPr>
          <a:xfrm>
            <a:off x="202125" y="4564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Domain: 中文 Restaurant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239637" y="939938"/>
            <a:ext cx="611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Times New Roman"/>
                <a:ea typeface="Times New Roman"/>
                <a:cs typeface="Times New Roman"/>
                <a:sym typeface="Times New Roman"/>
              </a:rPr>
              <a:t>2. 用較佳的 Transformer 模型，接著加入負樣本去訓練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239650" y="2571750"/>
            <a:ext cx="812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固定前面的最佳模型和優化，去更換 LLM 嘗試優化 VA 預測的表現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314675" y="2931500"/>
            <a:ext cx="284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 epoch)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3161100" y="2931500"/>
            <a:ext cx="193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(QLoRa, 5 epoch)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4"/>
          <p:cNvSpPr txBox="1"/>
          <p:nvPr/>
        </p:nvSpPr>
        <p:spPr>
          <a:xfrm>
            <a:off x="307725" y="1309225"/>
            <a:ext cx="324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 epoch)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4"/>
          <p:cNvSpPr txBox="1"/>
          <p:nvPr/>
        </p:nvSpPr>
        <p:spPr>
          <a:xfrm>
            <a:off x="3549625" y="1309225"/>
            <a:ext cx="221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(QLoRa, 5 epoch)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7" name="Google Shape;167;p24"/>
          <p:cNvGraphicFramePr/>
          <p:nvPr/>
        </p:nvGraphicFramePr>
        <p:xfrm>
          <a:off x="307725" y="1593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{13BEF66F-EDAB-4AF3-A271-6549E04C52AE}</a:tableStyleId>
              </a:tblPr>
              <a:tblGrid>
                <a:gridCol w="3241900"/>
                <a:gridCol w="2213125"/>
                <a:gridCol w="1039200"/>
                <a:gridCol w="1001725"/>
                <a:gridCol w="809850"/>
              </a:tblGrid>
              <a:tr h="265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Transformer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LLM 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cPrecision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cRecall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cF1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ernie-3.0-xbase-zh</a:t>
                      </a: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Llama-3.1-8B-Instruct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0.4462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0.4374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0.4418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ernie-3.0-xbase-zh</a:t>
                      </a: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(w/ negative sample)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Llama-3.1-8B-Instruct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0.545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0.5142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0.5292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8" name="Google Shape;168;p24"/>
          <p:cNvGraphicFramePr/>
          <p:nvPr/>
        </p:nvGraphicFramePr>
        <p:xfrm>
          <a:off x="314675" y="3213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{13BEF66F-EDAB-4AF3-A271-6549E04C52AE}</a:tableStyleId>
              </a:tblPr>
              <a:tblGrid>
                <a:gridCol w="2846425"/>
                <a:gridCol w="1930525"/>
                <a:gridCol w="1302000"/>
                <a:gridCol w="1275050"/>
                <a:gridCol w="951800"/>
              </a:tblGrid>
              <a:tr h="197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Transformer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LLM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cPrecision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cRecall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cF1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197825">
                <a:tc rowSpan="5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ernie-3.0-xbase-zh</a:t>
                      </a: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(w/ negative sample)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Llama-3.1-8B-Instruct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0.5436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0.5129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0.5278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78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Qwen3-14B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0.5444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0.5136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0.5285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78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phi-4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0.5445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0.5137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0.5287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78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deepseek-7B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0.5423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0.5117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0.5266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78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Ensemble (mean)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0.5478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0.5169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0.5319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/>
        </p:nvSpPr>
        <p:spPr>
          <a:xfrm>
            <a:off x="3201000" y="2083500"/>
            <a:ext cx="274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3.	</a:t>
            </a:r>
            <a:r>
              <a:rPr lang="zh-TW" sz="24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176" name="Google Shape;176;p25"/>
          <p:cNvCxnSpPr>
            <a:endCxn id="174" idx="1"/>
          </p:cNvCxnSpPr>
          <p:nvPr/>
        </p:nvCxnSpPr>
        <p:spPr>
          <a:xfrm>
            <a:off x="-355800" y="2358750"/>
            <a:ext cx="3556800" cy="1800"/>
          </a:xfrm>
          <a:prstGeom prst="straightConnector1">
            <a:avLst/>
          </a:prstGeom>
          <a:noFill/>
          <a:ln cap="flat" cmpd="sng" w="9525">
            <a:solidFill>
              <a:srgbClr val="0033A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77" name="Google Shape;177;p25"/>
          <p:cNvCxnSpPr>
            <a:stCxn id="174" idx="3"/>
          </p:cNvCxnSpPr>
          <p:nvPr/>
        </p:nvCxnSpPr>
        <p:spPr>
          <a:xfrm flipH="1" rot="10800000">
            <a:off x="5943000" y="2349450"/>
            <a:ext cx="3468900" cy="11100"/>
          </a:xfrm>
          <a:prstGeom prst="straightConnector1">
            <a:avLst/>
          </a:prstGeom>
          <a:noFill/>
          <a:ln cap="flat" cmpd="sng" w="9525">
            <a:solidFill>
              <a:srgbClr val="0033A1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84" name="Google Shape;184;p26"/>
          <p:cNvSpPr txBox="1"/>
          <p:nvPr/>
        </p:nvSpPr>
        <p:spPr>
          <a:xfrm>
            <a:off x="399900" y="726850"/>
            <a:ext cx="8344200" cy="3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TW" sz="1200">
                <a:latin typeface="Times New Roman"/>
                <a:ea typeface="Times New Roman"/>
                <a:cs typeface="Times New Roman"/>
                <a:sym typeface="Times New Roman"/>
              </a:rPr>
              <a:t>我們參考 SIGHAN-2024 第一名的做法，使用負樣本進行訓練，用 Transformer (BIO tagger, Relation Pairing classifier, Category classifier) 和 LLM 建立 Pipeline 的架構，並測試多個不同模型在 Pipeline 結構下的表現，最終使用 </a:t>
            </a:r>
            <a:r>
              <a:rPr lang="zh-TW" sz="12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ernie-3.0-xbase-zh</a:t>
            </a:r>
            <a:r>
              <a:rPr lang="zh-TW" sz="1200">
                <a:latin typeface="Times New Roman"/>
                <a:ea typeface="Times New Roman"/>
                <a:cs typeface="Times New Roman"/>
                <a:sym typeface="Times New Roman"/>
              </a:rPr>
              <a:t> 和多個 LLM 對 VA 預測做 Ensemble</a:t>
            </a:r>
            <a:r>
              <a:rPr lang="zh-TW" sz="1200">
                <a:latin typeface="Times New Roman"/>
                <a:ea typeface="Times New Roman"/>
                <a:cs typeface="Times New Roman"/>
                <a:sym typeface="Times New Roman"/>
              </a:rPr>
              <a:t>，</a:t>
            </a: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當作提交</a:t>
            </a:r>
            <a:r>
              <a:rPr lang="zh-TW" sz="1200">
                <a:latin typeface="Times New Roman"/>
                <a:ea typeface="Times New Roman"/>
                <a:cs typeface="Times New Roman"/>
                <a:sym typeface="Times New Roman"/>
              </a:rPr>
              <a:t>在 </a:t>
            </a:r>
            <a:r>
              <a:rPr lang="zh-TW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CodaBench 上</a:t>
            </a:r>
            <a:r>
              <a:rPr lang="zh-TW" sz="1200">
                <a:latin typeface="Times New Roman"/>
                <a:ea typeface="Times New Roman"/>
                <a:cs typeface="Times New Roman"/>
                <a:sym typeface="Times New Roman"/>
              </a:rPr>
              <a:t>的模型，也是表現最好的組合。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目前在 CodaBench 上的分數: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5" name="Google Shape;18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2975" y="3082263"/>
            <a:ext cx="7258050" cy="141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92" name="Google Shape;192;p27"/>
          <p:cNvSpPr txBox="1"/>
          <p:nvPr/>
        </p:nvSpPr>
        <p:spPr>
          <a:xfrm>
            <a:off x="558299" y="2225400"/>
            <a:ext cx="8027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zh-TW" sz="3600">
                <a:solidFill>
                  <a:srgbClr val="0033A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Thanks for your attention！</a:t>
            </a:r>
            <a:endParaRPr b="1" i="0" sz="3600" u="none" cap="none" strike="noStrike">
              <a:solidFill>
                <a:srgbClr val="0033A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